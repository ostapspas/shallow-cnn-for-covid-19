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Помір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Без стилю та сі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Помір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Світлий стиль 2 –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FFC6BB-E723-326D-91C2-609CB1842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848DA18C-BEF1-9228-7585-3A94D6A86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E54E563-7ACB-2FAF-C3B2-A15B600C4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E5AE-A368-44CF-9D11-065CE1646C2C}" type="datetimeFigureOut">
              <a:rPr lang="uk-UA" smtClean="0"/>
              <a:t>21.04.2025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4222F77-11D0-DA16-DB87-101810FB5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17D4D27-405D-5CC4-17E8-E427CD310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FDB06-A765-4C58-8068-1D2E0DBB96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56315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5BD86-79B6-F2F1-BBBB-26EBAFF34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63CDD6E-9A4E-8B46-A13D-B1B482F2D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37CC91E-0944-9A9E-1A06-2CD33E15E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E5AE-A368-44CF-9D11-065CE1646C2C}" type="datetimeFigureOut">
              <a:rPr lang="uk-UA" smtClean="0"/>
              <a:t>21.04.2025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FA8AE98-4B1A-15F5-81AD-E6882789A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DE72DC7-DE6A-4004-7F20-86C008A4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FDB06-A765-4C58-8068-1D2E0DBB96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3422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50DDF7-37C5-BC10-394B-C8661A3C3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EA86C31-98A2-A805-88A1-6C0EA2C54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DFFF1DF-0227-50AC-5B69-E053B6C4F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E5AE-A368-44CF-9D11-065CE1646C2C}" type="datetimeFigureOut">
              <a:rPr lang="uk-UA" smtClean="0"/>
              <a:t>21.04.2025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5B094E7-C335-C981-9097-F382D9F8C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CB3C350-F74D-226B-5E61-5C6A1D602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FDB06-A765-4C58-8068-1D2E0DBB96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416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14BC64-9018-A08A-B23E-0D8C441BA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EDBEA11-B3B9-088D-FDE2-7D31247F5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D2F08CC-F50E-DD66-8F6A-36A436576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4B93A8F-FDB8-D580-1B84-B01C6C28F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E5AE-A368-44CF-9D11-065CE1646C2C}" type="datetimeFigureOut">
              <a:rPr lang="uk-UA" smtClean="0"/>
              <a:t>21.04.2025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F111061-5F1D-88E7-32E1-BD4133B35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2A4B3F2-D305-F64B-7F19-E8C6F8805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FDB06-A765-4C58-8068-1D2E0DBB96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56289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581842-888B-60CF-F89B-CE10EBF98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86548F0-808B-DCE4-F40B-AF944A85E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AA1CFDB-66EA-2C08-4216-9DB3FCC38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D3C3D72B-58C4-ECA8-B8D0-08E9CAD64A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2F7D8548-CA7E-E857-CD6F-08FB5350CC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E5E82788-BD81-99DC-ACC8-42F361A4D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E5AE-A368-44CF-9D11-065CE1646C2C}" type="datetimeFigureOut">
              <a:rPr lang="uk-UA" smtClean="0"/>
              <a:t>21.04.2025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4B9A526B-8310-BA59-17B4-17B549358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9C4011E5-7615-9E1B-A2FE-4D3E0ADCC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FDB06-A765-4C58-8068-1D2E0DBB96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28618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21B10-6ABC-78AF-056D-7DCADBE9D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AAA4F8C-B126-8CC0-A43A-F2AC167D5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E5AE-A368-44CF-9D11-065CE1646C2C}" type="datetimeFigureOut">
              <a:rPr lang="uk-UA" smtClean="0"/>
              <a:t>21.04.2025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9E3006DB-692E-3561-9C48-C7BC63E8A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2A090DBE-909D-9E30-08FE-00AFF8258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FDB06-A765-4C58-8068-1D2E0DBB96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62538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1FBB3361-7BD7-2F75-148F-A3FEE8C40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E5AE-A368-44CF-9D11-065CE1646C2C}" type="datetimeFigureOut">
              <a:rPr lang="uk-UA" smtClean="0"/>
              <a:t>21.04.2025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08A05BE3-6B14-92EB-EAB0-DBE2E30AD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C0316D0-1A96-7E3C-466B-83EB0A2E3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FDB06-A765-4C58-8068-1D2E0DBB96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64089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872E8D-BABF-9648-0AC7-393A86E93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16C7AE9-8A30-C54C-BA44-FD65067B8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53560D3-FD3A-C420-63D4-0F101A64F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4CBD4AE-E3E7-419C-0FC1-5E6D443A0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E5AE-A368-44CF-9D11-065CE1646C2C}" type="datetimeFigureOut">
              <a:rPr lang="uk-UA" smtClean="0"/>
              <a:t>21.04.2025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D57D000-ABFB-C5C2-4403-02988AD4C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127C6B1-0FDB-DBAA-CB17-075323CFF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FDB06-A765-4C58-8068-1D2E0DBB96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20045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C4F31-1ADD-C718-30D5-38A4ECF36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A4027F6A-25E4-9CB0-B933-C51919BB38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D60A047-E6D3-B45C-EAAA-4A501B3E6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36772FA-2772-234E-096C-0B028D9A6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E5AE-A368-44CF-9D11-065CE1646C2C}" type="datetimeFigureOut">
              <a:rPr lang="uk-UA" smtClean="0"/>
              <a:t>21.04.2025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319FBA0-2477-8F42-2796-D2C7E375C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169FD3B-456A-DE0F-25EA-113E4C033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FDB06-A765-4C58-8068-1D2E0DBB96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93223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64C504-EFEE-55E0-5C64-CA1701F59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3E51B336-E4D9-BD14-54B5-C3C3273E1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51A614D-AEDB-252D-38BC-8100149C7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E5AE-A368-44CF-9D11-065CE1646C2C}" type="datetimeFigureOut">
              <a:rPr lang="uk-UA" smtClean="0"/>
              <a:t>21.04.2025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E477415-4CEE-A21E-A6C4-54CC46F0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02E1E60-D9F5-1DAA-72D7-CC592CEB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FDB06-A765-4C58-8068-1D2E0DBB96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57404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F2EA4027-DF78-CEA7-C49F-6FC576BBF3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26C7C261-93E3-AB72-0FFF-149C9CC54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4B6B093-5D73-1C30-D6E9-5464CD601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E5AE-A368-44CF-9D11-065CE1646C2C}" type="datetimeFigureOut">
              <a:rPr lang="uk-UA" smtClean="0"/>
              <a:t>21.04.2025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4380D13-8FDE-48A1-A18C-D1BFE6791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BA28080-65C7-EB3D-42A4-792900E3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FDB06-A765-4C58-8068-1D2E0DBB96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82756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C871E528-B23B-13DE-AC8B-5E665BD4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392A2E5-CC3B-8BCA-DF3A-6F0AE7210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BB58106-11B1-0191-1B42-46C0946A4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DCE5AE-A368-44CF-9D11-065CE1646C2C}" type="datetimeFigureOut">
              <a:rPr lang="uk-UA" smtClean="0"/>
              <a:t>21.04.2025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F755443-425A-3BFC-AEEC-B915C22B4B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32DAAEA-2C4F-349D-C6D0-5210F0FFB8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FDB06-A765-4C58-8068-1D2E0DBB96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0970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radiologic figure of a skeleton">
            <a:extLst>
              <a:ext uri="{FF2B5EF4-FFF2-40B4-BE49-F238E27FC236}">
                <a16:creationId xmlns:a16="http://schemas.microsoft.com/office/drawing/2014/main" id="{19DBA5C6-79FC-2570-22F2-A731C4682A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4264" b="8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691BD3-703F-BCE5-F028-E1DE08A30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en-US" sz="7200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Shallow CNN for COVID-19 Outbreak Screening Using Chest X-rays</a:t>
            </a:r>
            <a:endParaRPr lang="uk-UA" sz="7200" dirty="0">
              <a:ln w="22225">
                <a:solidFill>
                  <a:schemeClr val="tx1"/>
                </a:solidFill>
                <a:miter lim="800000"/>
              </a:ln>
              <a:noFill/>
            </a:endParaRP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DD01B49-6F6B-D626-BB07-5FDD128F8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pPr algn="l"/>
            <a:r>
              <a:rPr lang="en-US" sz="3200"/>
              <a:t>Ivan Hrechkovskyi, Ostap Spas</a:t>
            </a:r>
            <a:endParaRPr lang="uk-UA" sz="3200"/>
          </a:p>
        </p:txBody>
      </p:sp>
    </p:spTree>
    <p:extLst>
      <p:ext uri="{BB962C8B-B14F-4D97-AF65-F5344CB8AC3E}">
        <p14:creationId xmlns:p14="http://schemas.microsoft.com/office/powerpoint/2010/main" val="3610227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4" name="Rectangle 6150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88A33-446D-FB8E-7087-BED2C595FDF9}"/>
              </a:ext>
            </a:extLst>
          </p:cNvPr>
          <p:cNvSpPr txBox="1"/>
          <p:nvPr/>
        </p:nvSpPr>
        <p:spPr>
          <a:xfrm>
            <a:off x="838200" y="1641752"/>
            <a:ext cx="4391025" cy="13234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Prečo?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F2749A-3D7D-4E22-B2D7-61E54F3D1FBC}"/>
              </a:ext>
            </a:extLst>
          </p:cNvPr>
          <p:cNvSpPr txBox="1"/>
          <p:nvPr/>
        </p:nvSpPr>
        <p:spPr>
          <a:xfrm>
            <a:off x="584239" y="2656273"/>
            <a:ext cx="5007015" cy="2849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Počas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pandémie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bolo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potrebné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efektívne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skríningové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riešenie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. CT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sken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je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presný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, ale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drahý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a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pomalý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. Preto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sa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výskum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sústredil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na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použitie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bežných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röntgenov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.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Cieľom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článku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bolo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vytvoriť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jednoduchý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CNN model,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ktorý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by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aj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v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obmedzených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podmienkach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vedel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spoľahlivo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detekovať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COVID-19.</a:t>
            </a:r>
          </a:p>
        </p:txBody>
      </p:sp>
      <p:pic>
        <p:nvPicPr>
          <p:cNvPr id="6146" name="Picture 2" descr="Rutgers Responds to the Coronavirus Outbreak | Rutgers Global Health  Institute">
            <a:extLst>
              <a:ext uri="{FF2B5EF4-FFF2-40B4-BE49-F238E27FC236}">
                <a16:creationId xmlns:a16="http://schemas.microsoft.com/office/drawing/2014/main" id="{00311782-4379-D6AB-91CD-07B8A9C88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1739781"/>
            <a:ext cx="5260976" cy="3339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9587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55FF31-8F88-97CA-7752-263EAF9E4BE5}"/>
              </a:ext>
            </a:extLst>
          </p:cNvPr>
          <p:cNvSpPr txBox="1"/>
          <p:nvPr/>
        </p:nvSpPr>
        <p:spPr>
          <a:xfrm>
            <a:off x="838200" y="1641752"/>
            <a:ext cx="4391025" cy="13234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6FBC4-03BC-F480-8D93-1B70C29C2073}"/>
              </a:ext>
            </a:extLst>
          </p:cNvPr>
          <p:cNvSpPr txBox="1"/>
          <p:nvPr/>
        </p:nvSpPr>
        <p:spPr>
          <a:xfrm>
            <a:off x="838200" y="3146400"/>
            <a:ext cx="4391025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dirty="0" err="1">
                <a:solidFill>
                  <a:schemeClr val="bg1">
                    <a:alpha val="80000"/>
                  </a:schemeClr>
                </a:solidFill>
              </a:rPr>
              <a:t>Použili</a:t>
            </a:r>
            <a:r>
              <a:rPr lang="en-US" sz="19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1900" dirty="0" err="1">
                <a:solidFill>
                  <a:schemeClr val="bg1">
                    <a:alpha val="80000"/>
                  </a:schemeClr>
                </a:solidFill>
              </a:rPr>
              <a:t>sme</a:t>
            </a:r>
            <a:r>
              <a:rPr lang="en-US" sz="19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1900" i="1" dirty="0">
                <a:solidFill>
                  <a:schemeClr val="bg1">
                    <a:alpha val="80000"/>
                  </a:schemeClr>
                </a:solidFill>
              </a:rPr>
              <a:t>Chest X-ray Pneumonia</a:t>
            </a:r>
            <a:r>
              <a:rPr lang="en-US" sz="1900" dirty="0">
                <a:solidFill>
                  <a:schemeClr val="bg1">
                    <a:alpha val="80000"/>
                  </a:schemeClr>
                </a:solidFill>
              </a:rPr>
              <a:t> dataset z Kaggle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 err="1">
                <a:solidFill>
                  <a:schemeClr val="bg1">
                    <a:alpha val="80000"/>
                  </a:schemeClr>
                </a:solidFill>
              </a:rPr>
              <a:t>Triedy</a:t>
            </a:r>
            <a:r>
              <a:rPr lang="en-US" sz="1900" dirty="0">
                <a:solidFill>
                  <a:schemeClr val="bg1">
                    <a:alpha val="80000"/>
                  </a:schemeClr>
                </a:solidFill>
              </a:rPr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>
                    <a:alpha val="80000"/>
                  </a:schemeClr>
                </a:solidFill>
              </a:rPr>
              <a:t>COVID-19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>
                    <a:alpha val="80000"/>
                  </a:schemeClr>
                </a:solidFill>
              </a:rPr>
              <a:t>NORMAL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bg1">
                    <a:alpha val="80000"/>
                  </a:schemeClr>
                </a:solidFill>
              </a:rPr>
              <a:t>PNEUMONIA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>
              <a:solidFill>
                <a:schemeClr val="bg1">
                  <a:alpha val="80000"/>
                </a:schemeClr>
              </a:solidFill>
            </a:endParaRPr>
          </a:p>
        </p:txBody>
      </p:sp>
      <p:pic>
        <p:nvPicPr>
          <p:cNvPr id="1028" name="Picture 4" descr="COVID-19 Chest X-ray Classification and Severity Assessment Using  Convolutional and Transformer Neural Networks">
            <a:extLst>
              <a:ext uri="{FF2B5EF4-FFF2-40B4-BE49-F238E27FC236}">
                <a16:creationId xmlns:a16="http://schemas.microsoft.com/office/drawing/2014/main" id="{6CBB6C31-39B9-AD17-0C88-1B823EEFF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06795" y="1429488"/>
            <a:ext cx="5239384" cy="39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5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083D0F-7A1A-C5D6-0633-8C34A3286F30}"/>
              </a:ext>
            </a:extLst>
          </p:cNvPr>
          <p:cNvSpPr txBox="1"/>
          <p:nvPr/>
        </p:nvSpPr>
        <p:spPr>
          <a:xfrm>
            <a:off x="838200" y="1641752"/>
            <a:ext cx="4391025" cy="13234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Architektúra Shallow CNN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24CB4D-D54A-0A66-077D-2F191D5754B7}"/>
              </a:ext>
            </a:extLst>
          </p:cNvPr>
          <p:cNvSpPr txBox="1"/>
          <p:nvPr/>
        </p:nvSpPr>
        <p:spPr>
          <a:xfrm>
            <a:off x="838200" y="3146400"/>
            <a:ext cx="4391025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1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konvolučná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vrstva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(10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filtrov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, 2x2)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MaxPooling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(2x2)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Dense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vrstva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(256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neurónov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ReLU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Výstupná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dense (3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neuróny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Softmax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Vstup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: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obrázky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224×224 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pixelov</a:t>
            </a:r>
            <a:endParaRPr lang="en-US" sz="2000" dirty="0">
              <a:solidFill>
                <a:schemeClr val="bg1">
                  <a:alpha val="80000"/>
                </a:schemeClr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05849A-6EBE-939F-11E0-2F0EDF919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344141"/>
            <a:ext cx="5260976" cy="213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09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D8F13A-7785-3639-A972-659D9EA27400}"/>
              </a:ext>
            </a:extLst>
          </p:cNvPr>
          <p:cNvSpPr txBox="1"/>
          <p:nvPr/>
        </p:nvSpPr>
        <p:spPr>
          <a:xfrm>
            <a:off x="938907" y="282800"/>
            <a:ext cx="5217172" cy="12886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Výsledky Shallow CNN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B41B0-0B52-D387-4FB7-C42133064AF2}"/>
              </a:ext>
            </a:extLst>
          </p:cNvPr>
          <p:cNvSpPr txBox="1"/>
          <p:nvPr/>
        </p:nvSpPr>
        <p:spPr>
          <a:xfrm>
            <a:off x="938906" y="1715151"/>
            <a:ext cx="5004693" cy="1417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Presnosť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b="1" dirty="0">
                <a:solidFill>
                  <a:schemeClr val="bg1"/>
                </a:solidFill>
              </a:rPr>
              <a:t>75.77%</a:t>
            </a:r>
            <a:endParaRPr lang="en-US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Recall (COVID): </a:t>
            </a:r>
            <a:r>
              <a:rPr lang="en-US" b="1" dirty="0">
                <a:solidFill>
                  <a:schemeClr val="bg1"/>
                </a:solidFill>
              </a:rPr>
              <a:t>96%</a:t>
            </a:r>
            <a:endParaRPr lang="en-US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Recall (NORMAL): </a:t>
            </a:r>
            <a:r>
              <a:rPr lang="en-US" b="1" dirty="0">
                <a:solidFill>
                  <a:schemeClr val="bg1"/>
                </a:solidFill>
              </a:rPr>
              <a:t>32%</a:t>
            </a:r>
            <a:endParaRPr lang="en-US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F1 </a:t>
            </a:r>
            <a:r>
              <a:rPr lang="en-US" dirty="0" err="1">
                <a:solidFill>
                  <a:schemeClr val="bg1"/>
                </a:solidFill>
              </a:rPr>
              <a:t>skóre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b="1" dirty="0">
                <a:solidFill>
                  <a:schemeClr val="bg1"/>
                </a:solidFill>
              </a:rPr>
              <a:t>0.72 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3" name="Graphic 4">
            <a:extLst>
              <a:ext uri="{FF2B5EF4-FFF2-40B4-BE49-F238E27FC236}">
                <a16:creationId xmlns:a16="http://schemas.microsoft.com/office/drawing/2014/main" id="{D92F9A1A-77F4-4E16-958B-64BB489FF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22349" y="739986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19A42ED-6B91-49E6-9BDB-6339893E9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B732C3B-202D-4B4E-9C2B-283338B2A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38433EC-2142-4B86-B9BA-25AFE26299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F3A02D8-E8AA-47DC-B215-ED01D604E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1A156CC-0ACD-4554-947F-A9FD30B6A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BACA1F0-7581-48CC-BB3D-29D84E66B1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8C34CDB-6796-4AA3-9001-DA5B717D7C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9D783F9-0F69-4135-9961-9BAB1C1A6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FFBBC22-B7E4-49E9-9BD1-36B5F62991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E179D1A-1F7F-41FF-A993-7DB78E9EB3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565B3A8-B9D8-4EA9-B3DA-DDB2A574BB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891E65D-798E-4741-A582-606A9152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8BAB8E0-D711-471F-8EB7-6F8C42092B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EE02F4BA-BE99-482E-DFCC-5B76524A6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383" y="317841"/>
            <a:ext cx="3489767" cy="262605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ED0524D1-5979-96F3-1CA2-31372ABA28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484" y="3305176"/>
            <a:ext cx="3502666" cy="2609487"/>
          </a:xfrm>
          <a:prstGeom prst="rect">
            <a:avLst/>
          </a:prstGeom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C4C270DE-0BEB-4372-B440-7EADA6FAF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3877" y="4618784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57ACA0C-8702-4043-8D4D-582EAEDF1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3877" y="4618784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0425A20D-69AC-C2C2-C1A8-B20FD5770D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489767" cy="348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985229F0-1A9A-9F05-A2F1-F717DE609B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6487610" cy="6487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67671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BB5C69F-8DF1-183E-DB0F-AD92EA51C7B8}"/>
              </a:ext>
            </a:extLst>
          </p:cNvPr>
          <p:cNvSpPr txBox="1"/>
          <p:nvPr/>
        </p:nvSpPr>
        <p:spPr>
          <a:xfrm>
            <a:off x="827088" y="1641752"/>
            <a:ext cx="2655887" cy="32132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Improved CNN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4B6346-61E7-32CC-C856-EC6140271B48}"/>
              </a:ext>
            </a:extLst>
          </p:cNvPr>
          <p:cNvSpPr txBox="1"/>
          <p:nvPr/>
        </p:nvSpPr>
        <p:spPr>
          <a:xfrm>
            <a:off x="5232401" y="1721579"/>
            <a:ext cx="6140449" cy="3952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3 konvolučné vrstvy (zložitejšia extrakcia znakov)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Viac filtrov a vrstiev → lepšia reprezentácia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Použitý optimalizátor Adam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Cieľ: lepšia klasifikácia aj pre triedy NORMAL a PNEUMONIA</a:t>
            </a:r>
          </a:p>
        </p:txBody>
      </p:sp>
    </p:spTree>
    <p:extLst>
      <p:ext uri="{BB962C8B-B14F-4D97-AF65-F5344CB8AC3E}">
        <p14:creationId xmlns:p14="http://schemas.microsoft.com/office/powerpoint/2010/main" val="607491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3B14D-C353-351C-F8DD-E8C3A07050FB}"/>
              </a:ext>
            </a:extLst>
          </p:cNvPr>
          <p:cNvSpPr txBox="1"/>
          <p:nvPr/>
        </p:nvSpPr>
        <p:spPr>
          <a:xfrm>
            <a:off x="938907" y="282800"/>
            <a:ext cx="5217172" cy="12886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Výsledky Improved CNN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6AEA24-E038-78A4-DE77-DB7560A07A41}"/>
              </a:ext>
            </a:extLst>
          </p:cNvPr>
          <p:cNvSpPr txBox="1"/>
          <p:nvPr/>
        </p:nvSpPr>
        <p:spPr>
          <a:xfrm>
            <a:off x="938906" y="1715151"/>
            <a:ext cx="52171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Presnosť: </a:t>
            </a:r>
            <a:r>
              <a:rPr lang="en-US" b="1">
                <a:solidFill>
                  <a:schemeClr val="bg1"/>
                </a:solidFill>
              </a:rPr>
              <a:t>78.56%</a:t>
            </a:r>
            <a:endParaRPr lang="en-US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Recall (COVID): </a:t>
            </a:r>
            <a:r>
              <a:rPr lang="en-US" b="1">
                <a:solidFill>
                  <a:schemeClr val="bg1"/>
                </a:solidFill>
              </a:rPr>
              <a:t>98%</a:t>
            </a:r>
            <a:endParaRPr lang="en-US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Recall (NORMAL): </a:t>
            </a:r>
            <a:r>
              <a:rPr lang="en-US" b="1">
                <a:solidFill>
                  <a:schemeClr val="bg1"/>
                </a:solidFill>
              </a:rPr>
              <a:t>41%</a:t>
            </a:r>
            <a:endParaRPr lang="en-US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F1 skóre: </a:t>
            </a:r>
            <a:r>
              <a:rPr lang="en-US" b="1">
                <a:solidFill>
                  <a:schemeClr val="bg1"/>
                </a:solidFill>
              </a:rPr>
              <a:t>0.76 (vážené)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9" name="Graphic 4">
            <a:extLst>
              <a:ext uri="{FF2B5EF4-FFF2-40B4-BE49-F238E27FC236}">
                <a16:creationId xmlns:a16="http://schemas.microsoft.com/office/drawing/2014/main" id="{D92F9A1A-77F4-4E16-958B-64BB489FF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22349" y="739986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19A42ED-6B91-49E6-9BDB-6339893E9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B732C3B-202D-4B4E-9C2B-283338B2A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38433EC-2142-4B86-B9BA-25AFE26299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F3A02D8-E8AA-47DC-B215-ED01D604E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1A156CC-0ACD-4554-947F-A9FD30B6A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BACA1F0-7581-48CC-BB3D-29D84E66B1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8C34CDB-6796-4AA3-9001-DA5B717D7C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9D783F9-0F69-4135-9961-9BAB1C1A6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FFBBC22-B7E4-49E9-9BD1-36B5F62991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179D1A-1F7F-41FF-A993-7DB78E9EB3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565B3A8-B9D8-4EA9-B3DA-DDB2A574BB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891E65D-798E-4741-A582-606A9152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8BAB8E0-D711-471F-8EB7-6F8C42092B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12" name="Рисунок 11" descr="Зображення, що містить схема, Графік, текст, ряд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9B4FB24E-3A98-B1DA-DE23-6563B7473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141" y="322504"/>
            <a:ext cx="3908049" cy="2931037"/>
          </a:xfrm>
          <a:prstGeom prst="rect">
            <a:avLst/>
          </a:prstGeom>
        </p:spPr>
      </p:pic>
      <p:pic>
        <p:nvPicPr>
          <p:cNvPr id="8" name="Рисунок 7" descr="Зображення, що містить текст, схема, Графік, ряд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8DD5A371-4605-26FB-4BB5-7120F455D7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140" y="3376158"/>
            <a:ext cx="3908049" cy="2931037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C4C270DE-0BEB-4372-B440-7EADA6FAF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3877" y="4618784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57ACA0C-8702-4043-8D4D-582EAEDF1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3877" y="4618784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528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C8599C-E03F-5492-598F-9C54FD7C77C6}"/>
              </a:ext>
            </a:extLst>
          </p:cNvPr>
          <p:cNvSpPr txBox="1"/>
          <p:nvPr/>
        </p:nvSpPr>
        <p:spPr>
          <a:xfrm>
            <a:off x="2901386" y="913568"/>
            <a:ext cx="6867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Rozdiel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výsledkoch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medzi</a:t>
            </a:r>
            <a:r>
              <a:rPr lang="en-US" sz="2400" dirty="0">
                <a:solidFill>
                  <a:schemeClr val="bg1"/>
                </a:solidFill>
              </a:rPr>
              <a:t>  Shallow a</a:t>
            </a:r>
            <a:r>
              <a:rPr lang="uk-UA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Improved</a:t>
            </a:r>
            <a:endParaRPr lang="uk-UA" sz="2400" dirty="0">
              <a:solidFill>
                <a:schemeClr val="bg1"/>
              </a:solidFill>
            </a:endParaRPr>
          </a:p>
        </p:txBody>
      </p:sp>
      <p:pic>
        <p:nvPicPr>
          <p:cNvPr id="3" name="Рисунок 2" descr="Зображення, що містить рентгенівська плівка, Медична візуалізація, рентгенологія, рентгенографія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E7F35957-818F-BED1-4F72-45C2C07B7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535" y="1829640"/>
            <a:ext cx="5862578" cy="293129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146545-8257-FD29-DBD1-98BA5A9A5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87" y="1829640"/>
            <a:ext cx="5850263" cy="293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47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B2AE301-8298-47C2-81FA-781BA50D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8DBE596-692C-4777-8933-9D5BB8533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C38783D-8606-4709-8C6F-69DE0EF816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65A2D8C-561A-4347-88E9-4D84CF7CA9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7CB8EFE-31DC-44A2-A07E-FD84E8DA3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B6473FEC-46FF-4C7E-85BA-344E0365CA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8C875950-A52D-453F-A602-3E58AD414E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F9AFCB8-5BB8-162F-08F9-06A78683B248}"/>
              </a:ext>
            </a:extLst>
          </p:cNvPr>
          <p:cNvSpPr txBox="1"/>
          <p:nvPr/>
        </p:nvSpPr>
        <p:spPr>
          <a:xfrm>
            <a:off x="6099175" y="1354819"/>
            <a:ext cx="5240881" cy="24110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Porovnanie s pôvodným článkom</a:t>
            </a:r>
          </a:p>
        </p:txBody>
      </p:sp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607D007A-6FD1-1D45-2337-4A8BD6D10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241703"/>
              </p:ext>
            </p:extLst>
          </p:nvPr>
        </p:nvGraphicFramePr>
        <p:xfrm>
          <a:off x="858758" y="1429488"/>
          <a:ext cx="4349909" cy="3287657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12876">
                  <a:extLst>
                    <a:ext uri="{9D8B030D-6E8A-4147-A177-3AD203B41FA5}">
                      <a16:colId xmlns:a16="http://schemas.microsoft.com/office/drawing/2014/main" val="2149418490"/>
                    </a:ext>
                  </a:extLst>
                </a:gridCol>
                <a:gridCol w="1300605">
                  <a:extLst>
                    <a:ext uri="{9D8B030D-6E8A-4147-A177-3AD203B41FA5}">
                      <a16:colId xmlns:a16="http://schemas.microsoft.com/office/drawing/2014/main" val="43066926"/>
                    </a:ext>
                  </a:extLst>
                </a:gridCol>
                <a:gridCol w="1636428">
                  <a:extLst>
                    <a:ext uri="{9D8B030D-6E8A-4147-A177-3AD203B41FA5}">
                      <a16:colId xmlns:a16="http://schemas.microsoft.com/office/drawing/2014/main" val="1283979656"/>
                    </a:ext>
                  </a:extLst>
                </a:gridCol>
              </a:tblGrid>
              <a:tr h="900844">
                <a:tc>
                  <a:txBody>
                    <a:bodyPr/>
                    <a:lstStyle/>
                    <a:p>
                      <a:r>
                        <a:rPr lang="en-US" sz="2200" b="0" cap="none" spc="60">
                          <a:solidFill>
                            <a:schemeClr val="bg1"/>
                          </a:solidFill>
                        </a:rPr>
                        <a:t>Metrika</a:t>
                      </a:r>
                    </a:p>
                  </a:txBody>
                  <a:tcPr marL="129143" marR="129143" marT="129143" marB="64572" anchor="ctr"/>
                </a:tc>
                <a:tc>
                  <a:txBody>
                    <a:bodyPr/>
                    <a:lstStyle/>
                    <a:p>
                      <a:r>
                        <a:rPr lang="en-US" sz="2200" b="0" cap="none" spc="60">
                          <a:solidFill>
                            <a:schemeClr val="bg1"/>
                          </a:solidFill>
                        </a:rPr>
                        <a:t>Článok</a:t>
                      </a:r>
                    </a:p>
                  </a:txBody>
                  <a:tcPr marL="129143" marR="129143" marT="129143" marB="64572" anchor="ctr"/>
                </a:tc>
                <a:tc>
                  <a:txBody>
                    <a:bodyPr/>
                    <a:lstStyle/>
                    <a:p>
                      <a:r>
                        <a:rPr lang="en-US" sz="2200" b="0" cap="none" spc="60">
                          <a:solidFill>
                            <a:schemeClr val="bg1"/>
                          </a:solidFill>
                        </a:rPr>
                        <a:t>Naša replikácia</a:t>
                      </a:r>
                    </a:p>
                  </a:txBody>
                  <a:tcPr marL="129143" marR="129143" marT="129143" marB="64572" anchor="ctr"/>
                </a:tc>
                <a:extLst>
                  <a:ext uri="{0D108BD9-81ED-4DB2-BD59-A6C34878D82A}">
                    <a16:rowId xmlns:a16="http://schemas.microsoft.com/office/drawing/2014/main" val="3719148723"/>
                  </a:ext>
                </a:extLst>
              </a:tr>
              <a:tr h="520668"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 marL="129143" marR="129143" marT="129143" marB="64572" anchor="ctr"/>
                </a:tc>
                <a:tc>
                  <a:txBody>
                    <a:bodyPr/>
                    <a:lstStyle/>
                    <a:p>
                      <a:r>
                        <a:rPr lang="uk-UA" sz="2000" cap="none" spc="0">
                          <a:solidFill>
                            <a:schemeClr val="tx1"/>
                          </a:solidFill>
                        </a:rPr>
                        <a:t>99.69%</a:t>
                      </a:r>
                    </a:p>
                  </a:txBody>
                  <a:tcPr marL="129143" marR="129143" marT="129143" marB="64572" anchor="ctr"/>
                </a:tc>
                <a:tc>
                  <a:txBody>
                    <a:bodyPr/>
                    <a:lstStyle/>
                    <a:p>
                      <a:r>
                        <a:rPr lang="uk-UA" sz="2000" cap="none" spc="0">
                          <a:solidFill>
                            <a:schemeClr val="tx1"/>
                          </a:solidFill>
                        </a:rPr>
                        <a:t>75.77%</a:t>
                      </a:r>
                    </a:p>
                  </a:txBody>
                  <a:tcPr marL="129143" marR="129143" marT="129143" marB="64572" anchor="ctr"/>
                </a:tc>
                <a:extLst>
                  <a:ext uri="{0D108BD9-81ED-4DB2-BD59-A6C34878D82A}">
                    <a16:rowId xmlns:a16="http://schemas.microsoft.com/office/drawing/2014/main" val="85546908"/>
                  </a:ext>
                </a:extLst>
              </a:tr>
              <a:tr h="824809"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Recall (COVID)</a:t>
                      </a:r>
                    </a:p>
                  </a:txBody>
                  <a:tcPr marL="129143" marR="129143" marT="129143" marB="64572" anchor="ctr"/>
                </a:tc>
                <a:tc>
                  <a:txBody>
                    <a:bodyPr/>
                    <a:lstStyle/>
                    <a:p>
                      <a:r>
                        <a:rPr lang="uk-UA" sz="2000" cap="none" spc="0">
                          <a:solidFill>
                            <a:schemeClr val="tx1"/>
                          </a:solidFill>
                        </a:rPr>
                        <a:t>100%</a:t>
                      </a:r>
                    </a:p>
                  </a:txBody>
                  <a:tcPr marL="129143" marR="129143" marT="129143" marB="64572" anchor="ctr"/>
                </a:tc>
                <a:tc>
                  <a:txBody>
                    <a:bodyPr/>
                    <a:lstStyle/>
                    <a:p>
                      <a:r>
                        <a:rPr lang="uk-UA" sz="2000" cap="none" spc="0">
                          <a:solidFill>
                            <a:schemeClr val="tx1"/>
                          </a:solidFill>
                        </a:rPr>
                        <a:t>96%</a:t>
                      </a:r>
                    </a:p>
                  </a:txBody>
                  <a:tcPr marL="129143" marR="129143" marT="129143" marB="64572" anchor="ctr"/>
                </a:tc>
                <a:extLst>
                  <a:ext uri="{0D108BD9-81ED-4DB2-BD59-A6C34878D82A}">
                    <a16:rowId xmlns:a16="http://schemas.microsoft.com/office/drawing/2014/main" val="3712737252"/>
                  </a:ext>
                </a:extLst>
              </a:tr>
              <a:tr h="520668"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F1 skóre</a:t>
                      </a:r>
                    </a:p>
                  </a:txBody>
                  <a:tcPr marL="129143" marR="129143" marT="129143" marB="64572" anchor="ctr"/>
                </a:tc>
                <a:tc>
                  <a:txBody>
                    <a:bodyPr/>
                    <a:lstStyle/>
                    <a:p>
                      <a:r>
                        <a:rPr lang="uk-UA" sz="2000" cap="none" spc="0">
                          <a:solidFill>
                            <a:schemeClr val="tx1"/>
                          </a:solidFill>
                        </a:rPr>
                        <a:t>0.9969</a:t>
                      </a:r>
                    </a:p>
                  </a:txBody>
                  <a:tcPr marL="129143" marR="129143" marT="129143" marB="64572" anchor="ctr"/>
                </a:tc>
                <a:tc>
                  <a:txBody>
                    <a:bodyPr/>
                    <a:lstStyle/>
                    <a:p>
                      <a:r>
                        <a:rPr lang="uk-UA" sz="2000" cap="none" spc="0">
                          <a:solidFill>
                            <a:schemeClr val="tx1"/>
                          </a:solidFill>
                        </a:rPr>
                        <a:t>0.72</a:t>
                      </a:r>
                    </a:p>
                  </a:txBody>
                  <a:tcPr marL="129143" marR="129143" marT="129143" marB="64572" anchor="ctr"/>
                </a:tc>
                <a:extLst>
                  <a:ext uri="{0D108BD9-81ED-4DB2-BD59-A6C34878D82A}">
                    <a16:rowId xmlns:a16="http://schemas.microsoft.com/office/drawing/2014/main" val="2679418633"/>
                  </a:ext>
                </a:extLst>
              </a:tr>
              <a:tr h="520668"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AUC</a:t>
                      </a:r>
                    </a:p>
                  </a:txBody>
                  <a:tcPr marL="129143" marR="129143" marT="129143" marB="64572" anchor="ctr"/>
                </a:tc>
                <a:tc>
                  <a:txBody>
                    <a:bodyPr/>
                    <a:lstStyle/>
                    <a:p>
                      <a:r>
                        <a:rPr lang="uk-UA" sz="2000" cap="none" spc="0">
                          <a:solidFill>
                            <a:schemeClr val="tx1"/>
                          </a:solidFill>
                        </a:rPr>
                        <a:t>0.9995</a:t>
                      </a:r>
                    </a:p>
                  </a:txBody>
                  <a:tcPr marL="129143" marR="129143" marT="129143" marB="64572" anchor="ctr"/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0.85</a:t>
                      </a:r>
                      <a:endParaRPr lang="uk-UA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9143" marR="129143" marT="129143" marB="64572" anchor="ctr"/>
                </a:tc>
                <a:extLst>
                  <a:ext uri="{0D108BD9-81ED-4DB2-BD59-A6C34878D82A}">
                    <a16:rowId xmlns:a16="http://schemas.microsoft.com/office/drawing/2014/main" val="3091602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2779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6D09588-9668-4D38-8AD4-C27CF2B2D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271061-3879-3E9B-20C9-C290F25F911F}"/>
              </a:ext>
            </a:extLst>
          </p:cNvPr>
          <p:cNvSpPr txBox="1"/>
          <p:nvPr/>
        </p:nvSpPr>
        <p:spPr>
          <a:xfrm>
            <a:off x="838199" y="1498512"/>
            <a:ext cx="8740774" cy="13234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Záver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AF804-D7C7-603C-CED7-01F9A7CEDBF3}"/>
              </a:ext>
            </a:extLst>
          </p:cNvPr>
          <p:cNvSpPr txBox="1"/>
          <p:nvPr/>
        </p:nvSpPr>
        <p:spPr>
          <a:xfrm>
            <a:off x="838199" y="3003160"/>
            <a:ext cx="8740775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V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rámci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tejto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práce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sme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úspešne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replikovali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pôvodný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model Shallow CNN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na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klasifikáciu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COVID-19 z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röntgenových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snímok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hrudníka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zároveň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sme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navrhli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vlastné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vylepšenie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v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podobe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hlbšej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CNN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architektúry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.</a:t>
            </a:r>
            <a:br>
              <a:rPr lang="en-US" sz="22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Získané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výsledky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ukázali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že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aj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jednoduchý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model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dokáže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rozpoznať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COVID-19 s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vysokou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citlivosťou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avšak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pri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rozlíšení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podobných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tried,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ako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sú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normálne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pľúca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zápal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pľúc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jeho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presnosť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výrazne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200" dirty="0" err="1">
                <a:solidFill>
                  <a:schemeClr val="tx1">
                    <a:alpha val="80000"/>
                  </a:schemeClr>
                </a:solidFill>
              </a:rPr>
              <a:t>klesá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5A28492-272D-4814-AE2C-61575C989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778866-9933-4309-8E11-F83DDDBB1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D21D106-ABCB-4A50-84B3-D35C3B2B6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65E4ED97-1207-4104-A25F-8791916BF2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024CB190-EFCD-4B40-9CDD-E3C0EB4B3C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4946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293</Words>
  <Application>Microsoft Office PowerPoint</Application>
  <PresentationFormat>Широкий екран</PresentationFormat>
  <Paragraphs>54</Paragraphs>
  <Slides>10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Тема Office</vt:lpstr>
      <vt:lpstr>Shallow CNN for COVID-19 Outbreak Screening Using Chest X-rays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Hrechkovskyi</dc:creator>
  <cp:lastModifiedBy>Ivan Hrechkovskyi</cp:lastModifiedBy>
  <cp:revision>2</cp:revision>
  <dcterms:created xsi:type="dcterms:W3CDTF">2025-04-21T18:39:40Z</dcterms:created>
  <dcterms:modified xsi:type="dcterms:W3CDTF">2025-04-21T20:01:18Z</dcterms:modified>
</cp:coreProperties>
</file>